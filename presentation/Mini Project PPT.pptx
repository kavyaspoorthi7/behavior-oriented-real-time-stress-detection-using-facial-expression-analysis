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3"/>
    <p:sldId id="257" r:id="rId4"/>
    <p:sldId id="351" r:id="rId5"/>
    <p:sldId id="306" r:id="rId6"/>
    <p:sldId id="353" r:id="rId7"/>
    <p:sldId id="359" r:id="rId8"/>
    <p:sldId id="305" r:id="rId9"/>
    <p:sldId id="352" r:id="rId10"/>
    <p:sldId id="309" r:id="rId11"/>
    <p:sldId id="314" r:id="rId12"/>
    <p:sldId id="361" r:id="rId13"/>
    <p:sldId id="362" r:id="rId14"/>
    <p:sldId id="363" r:id="rId15"/>
    <p:sldId id="342" r:id="rId16"/>
  </p:sldIdLst>
  <p:sldSz cx="12192000" cy="6858000"/>
  <p:notesSz cx="6954520" cy="93091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ookman Old Style" panose="020506040505050202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ookman Old Style" panose="020506040505050202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ookman Old Style" panose="020506040505050202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ookman Old Style" panose="020506040505050202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ookman Old Style" panose="02050604050505020204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Bookman Old Style" panose="02050604050505020204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Bookman Old Style" panose="02050604050505020204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Bookman Old Style" panose="02050604050505020204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Bookman Old Style" panose="020506040505050202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3447" autoAdjust="0"/>
  </p:normalViewPr>
  <p:slideViewPr>
    <p:cSldViewPr snapToGrid="0" showGuides="1">
      <p:cViewPr varScale="1">
        <p:scale>
          <a:sx n="63" d="100"/>
          <a:sy n="63" d="100"/>
        </p:scale>
        <p:origin x="800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0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5138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40175" y="0"/>
            <a:ext cx="3013075" cy="465138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pPr>
              <a:defRPr/>
            </a:pPr>
            <a:fld id="{0D537B2C-B9FD-47DB-91C4-8606B3AEE4E2}" type="datetimeFigureOut">
              <a:rPr lang="en-US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13075" cy="465138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40175" y="8842375"/>
            <a:ext cx="3013075" cy="465138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1FD847D6-CB21-4E2E-B3B5-6549624666A8}" type="slidenum">
              <a:rPr lang="en-US" altLang="en-US"/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7T18:43: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1.000 1.000 24575,'0.000'0.000'-8191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47: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1.000 1.000 24575,'0.000'0.000'-8191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C3C39CB-B4C9-4DCE-AD9E-39F10ADFA5C3}" type="datetimeFigureOut">
              <a:rPr lang="en-US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/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B3EF142-6F38-4AD1-AB0A-BFE2FCF31E19}" type="slidenum">
              <a:rPr lang="en-US" altLang="en-US"/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Logo, company name&#10;&#10;Description automatically generated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505450" y="20638"/>
            <a:ext cx="1181100" cy="110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159375" y="5467350"/>
            <a:ext cx="2260600" cy="79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60563"/>
            <a:ext cx="9144000" cy="127793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334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D4FF8A-0CBA-431B-8A13-7BC9272AEFC2}" type="datetime2">
              <a:rPr lang="en-US"/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BVRIT CSE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FBF479A-0BDD-48BE-92E1-39A5437B6BC8}" type="slidenum">
              <a:rPr lang="en-US" altLang="en-US"/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 userDrawn="1"/>
        </p:nvGrpSpPr>
        <p:grpSpPr bwMode="auto">
          <a:xfrm>
            <a:off x="7240588" y="6302375"/>
            <a:ext cx="4489450" cy="0"/>
            <a:chOff x="7230414" y="6467118"/>
            <a:chExt cx="4489361" cy="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10238666" y="6467118"/>
              <a:ext cx="1481109" cy="0"/>
            </a:xfrm>
            <a:prstGeom prst="line">
              <a:avLst/>
            </a:prstGeom>
            <a:ln w="28575">
              <a:solidFill>
                <a:srgbClr val="A423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8686122" y="6467118"/>
              <a:ext cx="1539844" cy="0"/>
            </a:xfrm>
            <a:prstGeom prst="line">
              <a:avLst/>
            </a:prstGeom>
            <a:ln w="28575">
              <a:solidFill>
                <a:srgbClr val="A7CE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7230414" y="6467118"/>
              <a:ext cx="1538257" cy="0"/>
            </a:xfrm>
            <a:prstGeom prst="line">
              <a:avLst/>
            </a:prstGeom>
            <a:ln w="28575">
              <a:solidFill>
                <a:srgbClr val="F5822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Straight Connector 7"/>
          <p:cNvCxnSpPr/>
          <p:nvPr userDrawn="1"/>
        </p:nvCxnSpPr>
        <p:spPr>
          <a:xfrm flipV="1">
            <a:off x="119063" y="895350"/>
            <a:ext cx="4351337" cy="2540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15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255588" y="138113"/>
            <a:ext cx="827087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10990263" y="138113"/>
            <a:ext cx="1000125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 b="0">
                <a:solidFill>
                  <a:schemeClr val="tx1"/>
                </a:solidFill>
              </a:defRPr>
            </a:lvl1pPr>
            <a:lvl2pPr algn="just">
              <a:defRPr b="0">
                <a:solidFill>
                  <a:schemeClr val="tx1"/>
                </a:solidFill>
              </a:defRPr>
            </a:lvl2pPr>
            <a:lvl3pPr algn="just">
              <a:defRPr b="0">
                <a:solidFill>
                  <a:schemeClr val="tx1"/>
                </a:solidFill>
              </a:defRPr>
            </a:lvl3pPr>
            <a:lvl4pPr algn="just">
              <a:defRPr b="0">
                <a:solidFill>
                  <a:schemeClr val="tx1"/>
                </a:solidFill>
              </a:defRPr>
            </a:lvl4pPr>
            <a:lvl5pPr algn="just"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07BCE9-832B-4CF1-A300-CFAFFA53FA5E}" type="datetime2">
              <a:rPr lang="en-US"/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BVRIT CSE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96E056-3901-41CB-802B-E67DADB7F3B2}" type="slidenum">
              <a:rPr lang="en-US" altLang="en-US"/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just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F6F644-C6FC-4C8D-99F7-70852434A2AB}" type="datetime2">
              <a:rPr lang="en-US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BVRIT CSE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59A464-761B-497E-A9EC-21A070F834F6}" type="slidenum">
              <a:rPr lang="en-US" altLang="en-US"/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"/>
          <p:cNvGrpSpPr/>
          <p:nvPr userDrawn="1"/>
        </p:nvGrpSpPr>
        <p:grpSpPr bwMode="auto">
          <a:xfrm>
            <a:off x="7240588" y="6302375"/>
            <a:ext cx="4489450" cy="0"/>
            <a:chOff x="7230414" y="6467118"/>
            <a:chExt cx="4489361" cy="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10238666" y="6467118"/>
              <a:ext cx="1481109" cy="0"/>
            </a:xfrm>
            <a:prstGeom prst="line">
              <a:avLst/>
            </a:prstGeom>
            <a:ln w="28575">
              <a:solidFill>
                <a:srgbClr val="A423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8686122" y="6467118"/>
              <a:ext cx="1539844" cy="0"/>
            </a:xfrm>
            <a:prstGeom prst="line">
              <a:avLst/>
            </a:prstGeom>
            <a:ln w="28575">
              <a:solidFill>
                <a:srgbClr val="A7CE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230414" y="6467118"/>
              <a:ext cx="1538257" cy="0"/>
            </a:xfrm>
            <a:prstGeom prst="line">
              <a:avLst/>
            </a:prstGeom>
            <a:ln w="28575">
              <a:solidFill>
                <a:srgbClr val="F5822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Straight Connector 8"/>
          <p:cNvCxnSpPr/>
          <p:nvPr userDrawn="1"/>
        </p:nvCxnSpPr>
        <p:spPr>
          <a:xfrm flipV="1">
            <a:off x="119063" y="895350"/>
            <a:ext cx="4351337" cy="2540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15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255588" y="138113"/>
            <a:ext cx="827087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10990263" y="138113"/>
            <a:ext cx="1000125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0509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0509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9451DD-614E-4DCA-B961-94FF1A1ADA57}" type="datetime2">
              <a:rPr lang="en-US"/>
            </a:fld>
            <a:endParaRPr lang="en-US" dirty="0"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BVRIT CSE</a:t>
            </a:r>
            <a:endParaRPr lang="en-US" dirty="0"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43A295C-00CF-4B3D-B3C7-2A9DC3CDDE75}" type="slidenum">
              <a:rPr lang="en-US" altLang="en-US"/>
            </a:fld>
            <a:endParaRPr lang="en-US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128713" y="138113"/>
            <a:ext cx="9767887" cy="5953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Uday</a:t>
            </a:r>
            <a:endParaRPr lang="en-US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28713" y="1090613"/>
            <a:ext cx="9767887" cy="48180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pPr>
              <a:defRPr/>
            </a:pPr>
            <a:fld id="{453AA481-BFE3-42B3-A623-3169D7EACBAD}" type="datetime2">
              <a:rPr lang="en-US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© BVRIT CSE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400" b="1" smtClean="0">
                <a:solidFill>
                  <a:srgbClr val="002060"/>
                </a:solidFill>
              </a:defRPr>
            </a:lvl1pPr>
          </a:lstStyle>
          <a:p>
            <a:pPr>
              <a:defRPr/>
            </a:pPr>
            <a:fld id="{A8FB41C8-7EC4-4FC4-9E8F-BA3A610E8B4A}" type="slidenum">
              <a:rPr lang="en-US" altLang="en-US"/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00206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9pPr>
    </p:titleStyle>
    <p:bodyStyle>
      <a:lvl1pPr marL="228600" indent="-228600" algn="just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customXml" Target="../ink/ink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nature.com/scientificreports&#13;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292100" y="1155065"/>
            <a:ext cx="11899900" cy="1049338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IN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B V RAJU INSTITUTE OF TECHNOLOGY</a:t>
            </a:r>
            <a:br>
              <a:rPr lang="en-IN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(UGC Autonomous)</a:t>
            </a:r>
            <a:br>
              <a:rPr lang="en-IN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Vishnupur, Narsapur, Medak District</a:t>
            </a: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7930" y="4530132"/>
            <a:ext cx="441835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Guide : </a:t>
            </a:r>
            <a:endParaRPr lang="en-US" sz="1600" dirty="0"/>
          </a:p>
          <a:p>
            <a:r>
              <a:rPr lang="en-US" sz="1600" dirty="0"/>
              <a:t>Supervisor	: </a:t>
            </a:r>
            <a:r>
              <a:rPr lang="en-US" sz="1600" b="1" dirty="0">
                <a:sym typeface="+mn-ea"/>
              </a:rPr>
              <a:t>Ms. B .Priyanka</a:t>
            </a:r>
            <a:endParaRPr lang="en-US" sz="1600" dirty="0"/>
          </a:p>
          <a:p>
            <a:r>
              <a:rPr lang="en-IN" sz="1600" dirty="0"/>
              <a:t>Co-Supervisor   	:</a:t>
            </a:r>
            <a:r>
              <a:rPr lang="en-IN" sz="1600" b="1" dirty="0"/>
              <a:t> Ms. Srilakshmi V</a:t>
            </a:r>
            <a:endParaRPr lang="en-US" sz="16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7590560" y="4522288"/>
            <a:ext cx="4166012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Presented by : </a:t>
            </a:r>
            <a:endParaRPr lang="en-IN" sz="1600" dirty="0"/>
          </a:p>
          <a:p>
            <a:r>
              <a:rPr lang="en-IN" sz="1600" dirty="0"/>
              <a:t>Ch. Kavya Spoorthi           23211A6633                          </a:t>
            </a:r>
            <a:endParaRPr lang="en-IN" sz="1600" dirty="0"/>
          </a:p>
          <a:p>
            <a:endParaRPr lang="en-IN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2882900" y="2413000"/>
            <a:ext cx="6972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CSE(Artificial Intelligence and Machine Learning)</a:t>
            </a:r>
            <a:endParaRPr lang="en-IN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Mini Project – Review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5905" y="3398520"/>
            <a:ext cx="95923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US" sz="2000" b="1" dirty="0"/>
              <a:t>TruthMotion AI- A System for Identifying Deceptive Body Language </a:t>
            </a:r>
            <a:endParaRPr lang="en-US" altLang="en-US"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Bookman Old Style" panose="0205060405050502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Outline</a:t>
            </a:r>
            <a:endParaRPr lang="en-US" altLang="en-US" dirty="0">
              <a:latin typeface="Bookman Old Style" panose="0205060405050502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749074" y="1426257"/>
            <a:ext cx="5781612" cy="4071030"/>
          </a:xfrm>
        </p:spPr>
        <p:txBody>
          <a:bodyPr/>
          <a:lstStyle/>
          <a:p>
            <a:pPr eaLnBrk="1" hangingPunct="1"/>
            <a:r>
              <a:rPr lang="en-IN" altLang="en-US" sz="2000" b="1" dirty="0">
                <a:solidFill>
                  <a:srgbClr val="002060"/>
                </a:solidFill>
                <a:latin typeface="Bookman Old Style" panose="0205060405050502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Abstract</a:t>
            </a:r>
            <a:endParaRPr lang="en-IN" altLang="en-US" sz="2000" b="1" dirty="0">
              <a:solidFill>
                <a:srgbClr val="002060"/>
              </a:solidFill>
              <a:latin typeface="Bookman Old Style" panose="0205060405050502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eaLnBrk="1" hangingPunct="1"/>
            <a:r>
              <a:rPr lang="en-US" altLang="en-US" sz="2000" b="1" dirty="0">
                <a:solidFill>
                  <a:srgbClr val="002060"/>
                </a:solidFill>
                <a:latin typeface="Bookman Old Style" panose="0205060405050502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Problem Statement</a:t>
            </a:r>
            <a:endParaRPr lang="en-IN" altLang="en-US" sz="2000" b="1" dirty="0">
              <a:solidFill>
                <a:srgbClr val="002060"/>
              </a:solidFill>
              <a:latin typeface="Bookman Old Style" panose="0205060405050502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eaLnBrk="1" hangingPunct="1"/>
            <a:r>
              <a:rPr lang="en-IN" altLang="en-US" sz="2000" b="1" dirty="0">
                <a:solidFill>
                  <a:srgbClr val="002060"/>
                </a:solidFill>
                <a:latin typeface="Bookman Old Style" panose="0205060405050502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Literature Review</a:t>
            </a:r>
            <a:endParaRPr lang="en-IN" altLang="en-US" sz="2000" b="1" dirty="0">
              <a:solidFill>
                <a:srgbClr val="002060"/>
              </a:solidFill>
              <a:latin typeface="Bookman Old Style" panose="0205060405050502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eaLnBrk="1" hangingPunct="1"/>
            <a:r>
              <a:rPr lang="en-IN" altLang="en-US" sz="2000" b="1" dirty="0">
                <a:solidFill>
                  <a:srgbClr val="002060"/>
                </a:solidFill>
                <a:latin typeface="Bookman Old Style" panose="0205060405050502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Research Gaps</a:t>
            </a:r>
            <a:endParaRPr lang="en-IN" altLang="en-US" sz="2000" b="1" dirty="0">
              <a:solidFill>
                <a:srgbClr val="002060"/>
              </a:solidFill>
              <a:latin typeface="Bookman Old Style" panose="0205060405050502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eaLnBrk="1" hangingPunct="1"/>
            <a:r>
              <a:rPr lang="en-IN" altLang="en-US" sz="2000" b="1" dirty="0">
                <a:solidFill>
                  <a:srgbClr val="002060"/>
                </a:solidFill>
                <a:latin typeface="Bookman Old Style" panose="0205060405050502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Research Objectives</a:t>
            </a:r>
            <a:endParaRPr lang="en-IN" altLang="en-US" sz="2000" b="1" dirty="0">
              <a:solidFill>
                <a:srgbClr val="002060"/>
              </a:solidFill>
              <a:latin typeface="Bookman Old Style" panose="0205060405050502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eaLnBrk="1" hangingPunct="1"/>
            <a:r>
              <a:rPr lang="en-IN" altLang="en-US" sz="2000" b="1" dirty="0">
                <a:solidFill>
                  <a:srgbClr val="002060"/>
                </a:solidFill>
                <a:latin typeface="Bookman Old Style" panose="0205060405050502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Methodology Adopted</a:t>
            </a:r>
            <a:endParaRPr lang="en-IN" altLang="en-US" sz="2000" b="1" dirty="0">
              <a:solidFill>
                <a:srgbClr val="002060"/>
              </a:solidFill>
              <a:latin typeface="Bookman Old Style" panose="0205060405050502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eaLnBrk="1" hangingPunct="1"/>
            <a:r>
              <a:rPr lang="en-IN" altLang="en-US" sz="2000" b="1" dirty="0">
                <a:solidFill>
                  <a:srgbClr val="002060"/>
                </a:solidFill>
                <a:latin typeface="Bookman Old Style" panose="0205060405050502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Implementation</a:t>
            </a:r>
            <a:endParaRPr lang="en-IN" altLang="en-US" sz="2000" b="1" dirty="0">
              <a:solidFill>
                <a:srgbClr val="002060"/>
              </a:solidFill>
              <a:latin typeface="Bookman Old Style" panose="0205060405050502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7173" name="Footer Placeholder 4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dirty="0"/>
              <a:t>© BVRIT CSE(AI&amp;ML)</a:t>
            </a:r>
            <a:endParaRPr lang="en-US" altLang="en-US" dirty="0"/>
          </a:p>
        </p:txBody>
      </p:sp>
      <p:sp>
        <p:nvSpPr>
          <p:cNvPr id="615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DA074DF7-47DB-46BB-AFC0-963A22437EAC}" type="slidenum">
              <a:rPr lang="en-US" altLang="en-US"/>
            </a:fld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713" y="261938"/>
            <a:ext cx="9767887" cy="595312"/>
          </a:xfrm>
        </p:spPr>
        <p:txBody>
          <a:bodyPr/>
          <a:lstStyle/>
          <a:p>
            <a:r>
              <a:rPr lang="en-IN" sz="2600" dirty="0"/>
              <a:t>ABSTRACT</a:t>
            </a:r>
            <a:endParaRPr lang="en-IN" sz="26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BVRIT CSE(AI&amp;ML)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</a:fld>
            <a:endParaRPr lang="en-US" alt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88950" y="1766570"/>
            <a:ext cx="10864215" cy="2999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Deceptive behavior is often reflected through subtle nonverbal cues such as micro-expressions, gaze avoidance, and tense posture, which are difficult to detect in real time.</a:t>
            </a: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This project proposes an AI system that analyzes short video clips to identify behavioral patterns commonly associated with deception.</a:t>
            </a: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The system focuses on stress and discomfort indicators rather than verifying factual truth.</a:t>
            </a: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Facial and body features are extracted using MediaPipe and analyzed using LSTM or Transformer-based models.The output provides stress and behavioral consistency scores to support ethical and non-intrusive behavior analysis.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dirty="0"/>
              <a:t>© BVRIT CSE</a:t>
            </a:r>
            <a:r>
              <a:rPr lang="en-US" dirty="0"/>
              <a:t>(AI&amp;ML)</a:t>
            </a:r>
            <a:endParaRPr lang="en-US" altLang="en-US" dirty="0"/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9BA95D20-3DD7-486C-BDED-39A628F8F61B}" type="slidenum">
              <a:rPr lang="en-US" altLang="en-US"/>
            </a:fld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28713" y="269558"/>
            <a:ext cx="9767887" cy="595312"/>
          </a:xfrm>
        </p:spPr>
        <p:txBody>
          <a:bodyPr/>
          <a:lstStyle/>
          <a:p>
            <a:r>
              <a:rPr lang="en-IN" sz="2600" dirty="0">
                <a:latin typeface="Bookman Old Style" panose="02050604050505020204" pitchFamily="18" charset="0"/>
                <a:ea typeface="Cambria" panose="02040503050406030204" pitchFamily="18" charset="0"/>
              </a:rPr>
              <a:t>PROBLEM STATEMENT</a:t>
            </a:r>
            <a:endParaRPr lang="en-IN" sz="2600" dirty="0">
              <a:latin typeface="Bookman Old Style" panose="0205060405050502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90500" y="919663"/>
            <a:ext cx="65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2578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23605" y="1255452"/>
            <a:ext cx="5872395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algn="just"/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" y="152400"/>
            <a:ext cx="2578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71170" y="1134110"/>
            <a:ext cx="11164570" cy="4310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Identifying deceptive behavior through body language is challenging due to the subtle and involuntary nature of nonverbal cues such as micro-expressions, gaze shifts, and posture changes. Human observers often miss these signals, especially in high-pressure or real-time situations. Existing AI systems mainly focus on basic emotion detection and fail to analyze complex behavioral patterns over time. Therefore, there is a need for an intelligent, ethical, and non-intrusive AI system that can analyze nonverbal behavior from video data and identify patterns associated with deceptive body language.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600" dirty="0"/>
              <a:t>LITERATURE REVIEW</a:t>
            </a:r>
            <a:endParaRPr lang="en-US" sz="26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BVRIT CSE(AI&amp;ML)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</a:fld>
            <a:endParaRPr lang="en-US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81823" y="1066074"/>
          <a:ext cx="11367135" cy="4966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604"/>
                <a:gridCol w="1543050"/>
                <a:gridCol w="3257550"/>
                <a:gridCol w="1891146"/>
                <a:gridCol w="1995054"/>
                <a:gridCol w="1875559"/>
              </a:tblGrid>
              <a:tr h="718593">
                <a:tc>
                  <a:txBody>
                    <a:bodyPr/>
                    <a:lstStyle/>
                    <a:p>
                      <a:r>
                        <a:rPr lang="en-US" sz="1600" dirty="0"/>
                        <a:t>S.no.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Year of publication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Title of paper with author name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Objectives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Methods /Approach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Inference</a:t>
                      </a:r>
                      <a:endParaRPr lang="en-IN" sz="1600" dirty="0"/>
                    </a:p>
                  </a:txBody>
                  <a:tcPr/>
                </a:tc>
              </a:tr>
              <a:tr h="2022488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</a:t>
                      </a:r>
                      <a:r>
                        <a:rPr lang="en-IN" altLang="en-US" sz="1400" dirty="0"/>
                        <a:t>25</a:t>
                      </a:r>
                      <a:endParaRPr lang="en-I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“</a:t>
                      </a:r>
                      <a:r>
                        <a:rPr lang="en-US" altLang="en-US" sz="1400" dirty="0"/>
                        <a:t>Multimodal Machine Learning for Deception Detection</a:t>
                      </a:r>
                      <a:r>
                        <a:rPr lang="en-IN" altLang="en-US" sz="1400" dirty="0"/>
                        <a:t>” by G. </a:t>
                      </a:r>
                      <a:r>
                        <a:rPr lang="en-US" altLang="en-US" sz="1400" dirty="0"/>
                        <a:t>Joshi et al.</a:t>
                      </a:r>
                      <a:endParaRPr lang="en-US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400" dirty="0"/>
                        <a:t>To examine the impact of emotions on students’ motivation, self-regulation, and academic performance</a:t>
                      </a:r>
                      <a:endParaRPr lang="en-US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400" dirty="0"/>
                        <a:t>Multimodal deception data were collected and fusion-based models were used to improve deception detection performance.</a:t>
                      </a:r>
                      <a:endParaRPr lang="en-US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400" dirty="0"/>
                        <a:t>Multimodal fusion increases deception detection accuracy by around 15%, with behavioral cues contributing the most.</a:t>
                      </a:r>
                      <a:endParaRPr lang="en-US" altLang="en-US" sz="1400" dirty="0"/>
                    </a:p>
                  </a:txBody>
                  <a:tcPr/>
                </a:tc>
              </a:tr>
              <a:tr h="2149275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</a:t>
                      </a:r>
                      <a:r>
                        <a:rPr lang="en-IN" altLang="en-US" sz="1400" dirty="0"/>
                        <a:t>25</a:t>
                      </a:r>
                      <a:endParaRPr lang="en-I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“</a:t>
                      </a:r>
                      <a:r>
                        <a:rPr lang="en-US" altLang="en-US" sz="1400" dirty="0"/>
                        <a:t>Leveraging vision transformers and entropy-based modules for micro-expression recognition</a:t>
                      </a:r>
                      <a:r>
                        <a:rPr lang="en-IN" altLang="en-US" sz="1400" dirty="0"/>
                        <a:t>” by </a:t>
                      </a:r>
                      <a:r>
                        <a:rPr lang="en-US" altLang="en-US" sz="1400" dirty="0"/>
                        <a:t>Zhang et al.</a:t>
                      </a:r>
                      <a:r>
                        <a:rPr lang="en-IN" altLang="en-US" sz="1400" dirty="0"/>
                        <a:t> &amp;</a:t>
                      </a:r>
                      <a:r>
                        <a:rPr lang="en-US" altLang="en-US" sz="1400" dirty="0"/>
                        <a:t> team focuses on ViT/HTNet developers</a:t>
                      </a:r>
                      <a:endParaRPr lang="en-US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altLang="en-US" sz="1400" dirty="0"/>
                        <a:t>T</a:t>
                      </a:r>
                      <a:r>
                        <a:rPr lang="en-US" altLang="en-US" sz="1400" dirty="0"/>
                        <a:t>o improve micro-expression recognition by effectively capturing subtle and short-duration facial movements using advanced deep learning techniques.</a:t>
                      </a:r>
                      <a:endParaRPr lang="en-US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altLang="en-US" sz="1400" dirty="0"/>
                        <a:t>U</a:t>
                      </a:r>
                      <a:r>
                        <a:rPr lang="en-US" altLang="en-US" sz="1400" dirty="0"/>
                        <a:t>ses a Vision Transformer with entropy-based attention to focus on subtle facial movements for micro-expression recognition.</a:t>
                      </a:r>
                      <a:endParaRPr lang="en-US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400" dirty="0"/>
                        <a:t>The proposed model achieves higher accuracy than existing CNN-based approaches in recognizing micro-expressions.</a:t>
                      </a:r>
                      <a:endParaRPr lang="en-US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600" dirty="0"/>
              <a:t>LITERATURE REVIEW</a:t>
            </a:r>
            <a:endParaRPr lang="en-US" sz="26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BVRIT CSE(AI&amp;ML)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</a:fld>
            <a:endParaRPr lang="en-US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5445" y="959340"/>
          <a:ext cx="11420792" cy="5177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893"/>
                <a:gridCol w="1428750"/>
                <a:gridCol w="3325091"/>
                <a:gridCol w="1833995"/>
                <a:gridCol w="1995054"/>
                <a:gridCol w="2047009"/>
              </a:tblGrid>
              <a:tr h="893910">
                <a:tc>
                  <a:txBody>
                    <a:bodyPr/>
                    <a:lstStyle/>
                    <a:p>
                      <a:r>
                        <a:rPr lang="en-US" sz="1600" dirty="0"/>
                        <a:t>S.no.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Year of publication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Title of paper with author name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Objectives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Methods /Approach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Inference</a:t>
                      </a:r>
                      <a:endParaRPr lang="en-IN" sz="1600" dirty="0"/>
                    </a:p>
                  </a:txBody>
                  <a:tcPr/>
                </a:tc>
              </a:tr>
              <a:tr h="2277675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</a:t>
                      </a:r>
                      <a:r>
                        <a:rPr lang="en-IN" altLang="en-US" sz="1400" dirty="0"/>
                        <a:t>24</a:t>
                      </a:r>
                      <a:endParaRPr lang="en-I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"</a:t>
                      </a:r>
                      <a:r>
                        <a:rPr lang="en-US" altLang="en-US" sz="1400" dirty="0"/>
                        <a:t> Micro-expression recognition based on a novel GCN and Transformer collaborative model</a:t>
                      </a:r>
                      <a:r>
                        <a:rPr lang="en-IN" altLang="en-US" sz="1400" dirty="0"/>
                        <a:t>” by </a:t>
                      </a:r>
                      <a:r>
                        <a:rPr lang="en-US" altLang="en-US" sz="1400" dirty="0"/>
                        <a:t>Li et al. affiliated with GCN-Transformer research group</a:t>
                      </a:r>
                      <a:endParaRPr lang="en-US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400" dirty="0"/>
                        <a:t>To improve micro-expression recognition by effectively modeling subtle facial muscle movements and their temporal dynamics.</a:t>
                      </a:r>
                      <a:endParaRPr lang="en-US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altLang="en-US" sz="1400" dirty="0"/>
                        <a:t>A</a:t>
                      </a:r>
                      <a:r>
                        <a:rPr lang="en-US" altLang="en-US" sz="1400" dirty="0"/>
                        <a:t> collaborative model that combines a Graph Convolutional Network to capture relationships among facial regions with a Transformer to model temporal expression changes.</a:t>
                      </a:r>
                      <a:endParaRPr lang="en-US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400" dirty="0"/>
                        <a:t>The proposed GCN-Transformer model achieves higher accuracy than existing methods, demonstrating improved recognition of subtle micro-expressions.</a:t>
                      </a:r>
                      <a:endParaRPr lang="en-US" altLang="en-US" sz="1400" dirty="0"/>
                    </a:p>
                  </a:txBody>
                  <a:tcPr/>
                </a:tc>
              </a:tr>
              <a:tr h="2005714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202</a:t>
                      </a:r>
                      <a:r>
                        <a:rPr lang="en-IN" altLang="en-US" sz="1400" dirty="0"/>
                        <a:t>3</a:t>
                      </a:r>
                      <a:endParaRPr lang="en-I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“</a:t>
                      </a:r>
                      <a:r>
                        <a:rPr lang="en-US" altLang="en-US" sz="1400" dirty="0"/>
                        <a:t> Micro-expression Recognition Based on MobileVit-SE Block</a:t>
                      </a:r>
                      <a:r>
                        <a:rPr lang="en-IN" altLang="en-US" sz="1400" dirty="0"/>
                        <a:t>” by </a:t>
                      </a:r>
                      <a:r>
                        <a:rPr lang="en-US" altLang="en-US" sz="1400" dirty="0"/>
                        <a:t>team from mobile vision experts</a:t>
                      </a:r>
                      <a:endParaRPr lang="en-US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400" dirty="0"/>
                        <a:t>To develop an efficient and lightweight model for accurate micro-expression recognition suitable for real-time and resource-constrained applications.</a:t>
                      </a:r>
                      <a:endParaRPr lang="en-US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altLang="en-US" sz="1400" dirty="0"/>
                        <a:t>I</a:t>
                      </a:r>
                      <a:r>
                        <a:rPr lang="en-US" altLang="en-US" sz="1400" dirty="0"/>
                        <a:t>ntegrates MobileViT architecture with a Squeeze-and-Excitation (SE) block to capture both local facial details and global contextual features.</a:t>
                      </a:r>
                      <a:endParaRPr lang="en-US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400" dirty="0"/>
                        <a:t>MobileViT-SE model achieves competitive accuracy with reduced computational complexity, making it effective for practical micro-expression recognition.</a:t>
                      </a:r>
                      <a:endParaRPr lang="en-US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600" dirty="0">
                <a:latin typeface="Bookman Old Style" panose="0205060405050502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IN" altLang="en-US" sz="2600" dirty="0">
                <a:latin typeface="Bookman Old Style" panose="0205060405050502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RESEARCH GAPS</a:t>
            </a:r>
            <a:endParaRPr lang="en-IN" altLang="en-US" sz="2600" dirty="0">
              <a:latin typeface="Bookman Old Style" panose="0205060405050502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dirty="0"/>
              <a:t>© BVRIT CSE</a:t>
            </a:r>
            <a:r>
              <a:rPr lang="en-US" dirty="0"/>
              <a:t>(AI&amp;ML)</a:t>
            </a:r>
            <a:endParaRPr lang="en-US" altLang="en-US" dirty="0"/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AC1B60DE-F864-4470-AF66-D6DAEC10DD8E}" type="slidenum">
              <a:rPr lang="en-US" altLang="en-US"/>
            </a:fld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85775" y="1104265"/>
            <a:ext cx="10868025" cy="5021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Joshi et al.</a:t>
            </a:r>
            <a:r>
              <a:rPr lang="en-US" altLang="en-US" dirty="0"/>
              <a:t> – Relies on physiological sensors, limiting scalability and real-world deployment without wearables.</a:t>
            </a:r>
            <a:endParaRPr lang="en-US" alt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Zhang et al. </a:t>
            </a:r>
            <a:r>
              <a:rPr lang="en-US" altLang="en-US" dirty="0"/>
              <a:t>– Focuses on micro-expression recognition but does not apply it to deception or behavioral analysis.</a:t>
            </a:r>
            <a:endParaRPr lang="en-US" alt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Li et al.</a:t>
            </a:r>
            <a:r>
              <a:rPr lang="en-US" altLang="en-US" dirty="0"/>
              <a:t> – Analyzes facial cues only, without combining posture, gaze, or full body language.</a:t>
            </a:r>
            <a:endParaRPr lang="en-US" alt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MobileViT-SE</a:t>
            </a:r>
            <a:r>
              <a:rPr lang="en-US" altLang="en-US" dirty="0"/>
              <a:t> – Optimized for efficiency but not explored for deceptive or stress-related behavior detection.</a:t>
            </a:r>
            <a:endParaRPr lang="en-US" alt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dirty="0">
                <a:sym typeface="+mn-ea"/>
              </a:rPr>
              <a:t>Existing research lacks a unified, vision-based, and interpretable approach for detecting deceptive body language using combined facial and behavioral cues.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2600" dirty="0"/>
              <a:t>RESEARCH OBJECTIVES</a:t>
            </a:r>
            <a:endParaRPr lang="en-IN" altLang="en-US" sz="26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BVRIT CSE(AI&amp;ML)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</a:fld>
            <a:endParaRPr lang="en-US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93700" y="1057910"/>
            <a:ext cx="11405235" cy="49549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just">
              <a:buFont typeface="+mj-lt"/>
              <a:buNone/>
            </a:pPr>
            <a:r>
              <a:rPr lang="en-US" altLang="en-US" b="1" dirty="0"/>
              <a:t>To build an AI-based vision system that identifies deceptive body language by analyzing facial and behavioral cues over time.</a:t>
            </a:r>
            <a:endParaRPr lang="en-US" altLang="en-US" b="1" dirty="0"/>
          </a:p>
          <a:p>
            <a:pPr marL="0" indent="0" algn="just">
              <a:buFont typeface="+mj-lt"/>
              <a:buNone/>
            </a:pPr>
            <a:endParaRPr lang="en-US" altLang="en-US" b="1" dirty="0"/>
          </a:p>
          <a:p>
            <a:pPr marL="0" indent="0" algn="just">
              <a:buFont typeface="+mj-lt"/>
              <a:buNone/>
            </a:pPr>
            <a:r>
              <a:rPr lang="en-IN" altLang="en-US" dirty="0"/>
              <a:t> That includes:</a:t>
            </a:r>
            <a:endParaRPr lang="en-IN" alt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/>
              <a:t>To analyze nonverbal cues such as facial micro-expressions, gaze behavior, posture, and body movements associated with deceptive behavior.</a:t>
            </a:r>
            <a:endParaRPr lang="en-US" altLang="en-US" dirty="0"/>
          </a:p>
          <a:p>
            <a:pPr marL="0" indent="0" algn="just">
              <a:buFont typeface="+mj-lt"/>
              <a:buNone/>
            </a:pPr>
            <a:endParaRPr lang="en-US" alt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/>
              <a:t>To develop a computer vision–based system that extracts facial and body language features from short video clips.</a:t>
            </a:r>
            <a:endParaRPr lang="en-US" altLang="en-US" dirty="0"/>
          </a:p>
          <a:p>
            <a:pPr marL="0" indent="0" algn="just">
              <a:buFont typeface="+mj-lt"/>
              <a:buNone/>
            </a:pPr>
            <a:endParaRPr lang="en-US" alt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/>
              <a:t>To apply deep learning models (LSTM/Transformer) to capture temporal behavior patterns related to deception.</a:t>
            </a:r>
            <a:endParaRPr lang="en-US" altLang="en-US" dirty="0"/>
          </a:p>
          <a:p>
            <a:pPr marL="0" indent="0" algn="just">
              <a:buFont typeface="+mj-lt"/>
              <a:buNone/>
            </a:pPr>
            <a:endParaRPr lang="en-US" alt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/>
              <a:t>To design a vision-based deception detection approach that does not rely on physiological sensors or wearables.</a:t>
            </a:r>
            <a:endParaRPr lang="en-US" altLang="en-US" dirty="0"/>
          </a:p>
          <a:p>
            <a:pPr marL="0" indent="0" algn="just">
              <a:buFont typeface="+mj-lt"/>
              <a:buNone/>
            </a:pPr>
            <a:endParaRPr lang="en-US" alt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/>
              <a:t>To evaluate the system’s effectiveness in identifying deceptive body language in an ethical and interpretable manner.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1128713" y="138113"/>
            <a:ext cx="9869487" cy="595312"/>
          </a:xfrm>
        </p:spPr>
        <p:txBody>
          <a:bodyPr/>
          <a:lstStyle/>
          <a:p>
            <a:pPr eaLnBrk="1" hangingPunct="1"/>
            <a:r>
              <a:rPr lang="en-IN" altLang="en-US" sz="2600" dirty="0">
                <a:latin typeface="Bookman Old Style" panose="0205060405050502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METHODOLOGY</a:t>
            </a:r>
            <a:endParaRPr lang="en-US" altLang="en-US" sz="2600" dirty="0">
              <a:latin typeface="Bookman Old Style" panose="0205060405050502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dirty="0"/>
              <a:t>© BVRIT CSE</a:t>
            </a:r>
            <a:r>
              <a:rPr lang="en-US" dirty="0"/>
              <a:t>(AI&amp;ML)</a:t>
            </a:r>
            <a:endParaRPr lang="en-US" altLang="en-US" dirty="0"/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12B54055-D293-41A4-A00A-384E787F4E19}" type="slidenum">
              <a:rPr lang="en-US" altLang="en-US"/>
            </a:fld>
            <a:endParaRPr lang="en-US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67030" y="836613"/>
            <a:ext cx="10631170" cy="51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/>
              <a:t>Collect short video clips in controlled settings to capture natural nonverbal behavior.</a:t>
            </a:r>
            <a:endParaRPr lang="en-US" altLang="en-US" dirty="0"/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en-US" dirty="0"/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/>
              <a:t>Preprocess videos and extract frames for consistent analysis.</a:t>
            </a:r>
            <a:endParaRPr lang="en-US" altLang="en-US" dirty="0"/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en-US" dirty="0"/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/>
              <a:t>Use computer vision techniques to extract facial, gaze, posture, and motion features.</a:t>
            </a:r>
            <a:endParaRPr lang="en-US" altLang="en-US" dirty="0"/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en-US" dirty="0"/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/>
              <a:t>Organize extracted features as temporal sequences.</a:t>
            </a:r>
            <a:endParaRPr lang="en-US" altLang="en-US" dirty="0"/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en-US" dirty="0"/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/>
              <a:t>Appl</a:t>
            </a:r>
            <a:r>
              <a:rPr lang="en-IN" altLang="en-US" dirty="0"/>
              <a:t>y</a:t>
            </a:r>
            <a:r>
              <a:rPr lang="en-US" altLang="en-US" dirty="0"/>
              <a:t> LSTM or Transformer models to learn time-based behavioral patterns.</a:t>
            </a:r>
            <a:endParaRPr lang="en-US" altLang="en-US" dirty="0"/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en-US" dirty="0"/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/>
              <a:t>Analyze model outputs to estimate deception likelihood and stress indicators.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1028383" y="277178"/>
            <a:ext cx="9869487" cy="595312"/>
          </a:xfrm>
        </p:spPr>
        <p:txBody>
          <a:bodyPr/>
          <a:lstStyle/>
          <a:p>
            <a:pPr eaLnBrk="1" hangingPunct="1"/>
            <a:r>
              <a:rPr lang="en-IN" altLang="en-US" sz="2600" dirty="0">
                <a:latin typeface="Bookman Old Style" panose="0205060405050502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PROCESS FLOW CHART</a:t>
            </a:r>
            <a:endParaRPr lang="en-US" altLang="en-US" sz="2600" dirty="0">
              <a:latin typeface="Bookman Old Style" panose="0205060405050502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2253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74968" y="6449868"/>
            <a:ext cx="4114800" cy="365125"/>
          </a:xfrm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dirty="0"/>
              <a:t>© BVRIT CSE</a:t>
            </a:r>
            <a:r>
              <a:rPr lang="en-US" dirty="0"/>
              <a:t>(AI&amp;ML)</a:t>
            </a:r>
            <a:endParaRPr lang="en-US" altLang="en-US" dirty="0"/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9011410" y="6486379"/>
            <a:ext cx="2743200" cy="365125"/>
          </a:xfrm>
          <a:noFill/>
          <a:ln>
            <a:miter lim="800000"/>
          </a:ln>
        </p:spPr>
        <p:txBody>
          <a:bodyPr/>
          <a:lstStyle/>
          <a:p>
            <a:fld id="{71441D0A-5B63-4E86-A569-E22565FC2C4D}" type="slidenum">
              <a:rPr lang="en-US" altLang="en-US"/>
            </a:fld>
            <a:endParaRPr lang="en-US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5" name="Ink 24"/>
              <p14:cNvContentPartPr/>
              <p14:nvPr/>
            </p14:nvContentPartPr>
            <p14:xfrm>
              <a:off x="-1028960" y="1079090"/>
              <a:ext cx="360" cy="360"/>
            </p14:xfrm>
          </p:contentPart>
        </mc:Choice>
        <mc:Fallback xmlns="">
          <p:pic>
            <p:nvPicPr>
              <p:cNvPr id="25" name="Ink 24"/>
            </p:nvPicPr>
            <p:blipFill>
              <a:blip r:embed="rId2"/>
            </p:blipFill>
            <p:spPr>
              <a:xfrm>
                <a:off x="-1028960" y="10790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1279" name="Ink 11278"/>
              <p14:cNvContentPartPr/>
              <p14:nvPr/>
            </p14:nvContentPartPr>
            <p14:xfrm>
              <a:off x="1818141" y="672716"/>
              <a:ext cx="360" cy="360"/>
            </p14:xfrm>
          </p:contentPart>
        </mc:Choice>
        <mc:Fallback xmlns="">
          <p:pic>
            <p:nvPicPr>
              <p:cNvPr id="11279" name="Ink 11278"/>
            </p:nvPicPr>
            <p:blipFill>
              <a:blip r:embed="rId4"/>
            </p:blipFill>
            <p:spPr>
              <a:xfrm>
                <a:off x="1818141" y="672716"/>
                <a:ext cx="360" cy="360"/>
              </a:xfrm>
              <a:prstGeom prst="rect"/>
            </p:spPr>
          </p:pic>
        </mc:Fallback>
      </mc:AlternateContent>
      <p:sp>
        <p:nvSpPr>
          <p:cNvPr id="4" name="Rounded Rectangle 3"/>
          <p:cNvSpPr/>
          <p:nvPr/>
        </p:nvSpPr>
        <p:spPr>
          <a:xfrm>
            <a:off x="751205" y="1522095"/>
            <a:ext cx="1852295" cy="1138555"/>
          </a:xfrm>
          <a:prstGeom prst="roundRect">
            <a:avLst/>
          </a:prstGeom>
          <a:solidFill>
            <a:schemeClr val="accent1"/>
          </a:solidFill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>
                <a:solidFill>
                  <a:schemeClr val="tx1"/>
                </a:solidFill>
              </a:rPr>
              <a:t>Video Input</a:t>
            </a:r>
            <a:endParaRPr lang="en-IN" altLang="en-US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28670" y="1522095"/>
            <a:ext cx="1852295" cy="1138555"/>
          </a:xfrm>
          <a:prstGeom prst="roundRect">
            <a:avLst/>
          </a:prstGeom>
          <a:solidFill>
            <a:schemeClr val="accent1"/>
          </a:solidFill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Frame Extraction &amp; Preprocessing</a:t>
            </a:r>
            <a:endParaRPr lang="en-IN" altLang="en-US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969000" y="1533525"/>
            <a:ext cx="1852295" cy="1138555"/>
          </a:xfrm>
          <a:prstGeom prst="roundRect">
            <a:avLst/>
          </a:prstGeom>
          <a:solidFill>
            <a:schemeClr val="accent1"/>
          </a:solidFill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Nonverbal Feature Extraction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808720" y="1522095"/>
            <a:ext cx="1852295" cy="1138555"/>
          </a:xfrm>
          <a:prstGeom prst="roundRect">
            <a:avLst/>
          </a:prstGeom>
          <a:solidFill>
            <a:schemeClr val="accent1"/>
          </a:solidFill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Temporal Feature Sequencing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189595" y="3710940"/>
            <a:ext cx="1852295" cy="1138555"/>
          </a:xfrm>
          <a:prstGeom prst="roundRect">
            <a:avLst/>
          </a:prstGeom>
          <a:solidFill>
            <a:schemeClr val="accent1"/>
          </a:solidFill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LSTM / Transformer Model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811395" y="3707130"/>
            <a:ext cx="1852295" cy="1138555"/>
          </a:xfrm>
          <a:prstGeom prst="roundRect">
            <a:avLst/>
          </a:prstGeom>
          <a:solidFill>
            <a:schemeClr val="accent1"/>
          </a:solidFill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Deceptive Behavior Analysis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818005" y="3710940"/>
            <a:ext cx="1852295" cy="1138555"/>
          </a:xfrm>
          <a:prstGeom prst="roundRect">
            <a:avLst/>
          </a:prstGeom>
          <a:solidFill>
            <a:schemeClr val="accent1"/>
          </a:solidFill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Deception Likelihood &amp; Stress Scores</a:t>
            </a:r>
            <a:endParaRPr lang="en-US" altLang="en-US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stCxn id="4" idx="3"/>
            <a:endCxn id="6" idx="1"/>
          </p:cNvCxnSpPr>
          <p:nvPr/>
        </p:nvCxnSpPr>
        <p:spPr>
          <a:xfrm>
            <a:off x="2603500" y="2091690"/>
            <a:ext cx="725170" cy="0"/>
          </a:xfrm>
          <a:prstGeom prst="straightConnector1">
            <a:avLst/>
          </a:prstGeom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6" idx="3"/>
            <a:endCxn id="19" idx="1"/>
          </p:cNvCxnSpPr>
          <p:nvPr/>
        </p:nvCxnSpPr>
        <p:spPr>
          <a:xfrm>
            <a:off x="5180965" y="2091690"/>
            <a:ext cx="788035" cy="11430"/>
          </a:xfrm>
          <a:prstGeom prst="straightConnector1">
            <a:avLst/>
          </a:prstGeom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7831455" y="2113280"/>
            <a:ext cx="967105" cy="0"/>
          </a:xfrm>
          <a:prstGeom prst="straightConnector1">
            <a:avLst/>
          </a:prstGeom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28" idx="2"/>
            <a:endCxn id="35" idx="0"/>
          </p:cNvCxnSpPr>
          <p:nvPr/>
        </p:nvCxnSpPr>
        <p:spPr>
          <a:xfrm flipH="1">
            <a:off x="9116060" y="2660650"/>
            <a:ext cx="619125" cy="1050290"/>
          </a:xfrm>
          <a:prstGeom prst="straightConnector1">
            <a:avLst/>
          </a:prstGeom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35" idx="1"/>
            <a:endCxn id="38" idx="3"/>
          </p:cNvCxnSpPr>
          <p:nvPr/>
        </p:nvCxnSpPr>
        <p:spPr>
          <a:xfrm flipH="1" flipV="1">
            <a:off x="6663690" y="4276725"/>
            <a:ext cx="1525905" cy="3810"/>
          </a:xfrm>
          <a:prstGeom prst="straightConnector1">
            <a:avLst/>
          </a:prstGeom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3665220" y="4290695"/>
            <a:ext cx="1125855" cy="10160"/>
          </a:xfrm>
          <a:prstGeom prst="straightConnector1">
            <a:avLst/>
          </a:prstGeom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Text Box 1"/>
          <p:cNvSpPr txBox="1"/>
          <p:nvPr/>
        </p:nvSpPr>
        <p:spPr>
          <a:xfrm>
            <a:off x="2869565" y="5538470"/>
            <a:ext cx="6246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b="1"/>
              <a:t>Fig. Process Flowchart</a:t>
            </a:r>
            <a:endParaRPr lang="en-IN" altLang="en-US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07BCE9-832B-4CF1-A300-CFAFFA53FA5E}" type="datetime2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BVRIT CSE</a:t>
            </a:r>
            <a:r>
              <a:rPr lang="en-US" dirty="0">
                <a:sym typeface="+mn-ea"/>
              </a:rPr>
              <a:t>(AI&amp;ML)</a:t>
            </a:r>
            <a:endParaRPr lang="en-US" alt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</a:fld>
            <a:endParaRPr lang="en-US" altLang="en-US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74848" y="1623525"/>
            <a:ext cx="10167505" cy="2999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Bookman Old Style" panose="02050604050505020204" pitchFamily="18" charset="0"/>
              </a:rPr>
              <a:t>Video input processing </a:t>
            </a: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Bookman Old Style" panose="02050604050505020204" pitchFamily="18" charset="0"/>
              </a:rPr>
              <a:t>is done using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Bookman Old Style" panose="02050604050505020204" pitchFamily="18" charset="0"/>
              </a:rPr>
              <a:t>OpenCV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Bookman Old Style" panose="020506040505050202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Bookman Old Style" panose="02050604050505020204" pitchFamily="18" charset="0"/>
              </a:rPr>
              <a:t>Facial and body landmark</a:t>
            </a: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Bookman Old Style" panose="02050604050505020204" pitchFamily="18" charset="0"/>
              </a:rPr>
              <a:t>s are extracted using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Bookman Old Style" panose="02050604050505020204" pitchFamily="18" charset="0"/>
              </a:rPr>
              <a:t> MediaPipe Holistic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Bookman Old Style" panose="020506040505050202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Bookman Old Style" panose="02050604050505020204" pitchFamily="18" charset="0"/>
              </a:rPr>
              <a:t>Frame to frame 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Bookman Old Style" panose="02050604050505020204" pitchFamily="18" charset="0"/>
              </a:rPr>
              <a:t>isualization of nonverbal behavioral cues</a:t>
            </a: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Bookman Old Style" panose="02050604050505020204" pitchFamily="18" charset="0"/>
              </a:rPr>
              <a:t> as landmarks is extracted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Bookman Old Style" panose="020506040505050202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Bookman Old Style" panose="02050604050505020204" pitchFamily="18" charset="0"/>
              </a:rPr>
              <a:t>Prototype classifi</a:t>
            </a: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Bookman Old Style" panose="02050604050505020204" pitchFamily="18" charset="0"/>
              </a:rPr>
              <a:t>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Bookman Old Style" panose="02050604050505020204" pitchFamily="18" charset="0"/>
              </a:rPr>
              <a:t> of truthful vs deceptive behavior</a:t>
            </a: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Bookman Old Style" panose="02050604050505020204" pitchFamily="18" charset="0"/>
              </a:rPr>
              <a:t> using pre defined parameters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Bookman Old Style" panose="020506040505050202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Bookman Old Style" panose="02050604050505020204" pitchFamily="18" charset="0"/>
              </a:rPr>
              <a:t>Execution</a:t>
            </a: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Bookman Old Style" panose="02050604050505020204" pitchFamily="18" charset="0"/>
              </a:rPr>
              <a:t> is validated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Bookman Old Style" panose="02050604050505020204" pitchFamily="18" charset="0"/>
              </a:rPr>
              <a:t>using publicly available video samples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Bookman Old Style" panose="02050604050505020204" pitchFamily="18" charset="0"/>
              </a:rPr>
              <a:t>The current status of the model is core pipeline being implemented and learnig based classification is planned</a:t>
            </a:r>
            <a:endParaRPr kumimoji="0" lang="en-I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9565" y="1019810"/>
            <a:ext cx="5109210" cy="481774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6907BCE9-832B-4CF1-A300-CFAFFA53FA5E}" type="datetime2">
              <a:rPr lang="en-US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r>
              <a:rPr lang="en-US" dirty="0"/>
              <a:t>© BVRIT CSE</a:t>
            </a:r>
            <a:r>
              <a:rPr lang="en-US" dirty="0">
                <a:sym typeface="+mn-ea"/>
              </a:rPr>
              <a:t>(AI&amp;ML)</a:t>
            </a:r>
            <a:endParaRPr lang="en-US" alt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2D96E056-3901-41CB-802B-E67DADB7F3B2}" type="slidenum">
              <a:rPr lang="en-US" altLang="en-US"/>
            </a:fld>
            <a:endParaRPr lang="en-US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985" y="1534795"/>
            <a:ext cx="5888355" cy="37871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REFERENCES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342900" indent="-342900">
              <a:buAutoNum type="arabicPeriod"/>
            </a:pPr>
            <a:r>
              <a:rPr lang="en-US" altLang="en-US" sz="1800"/>
              <a:t>Joshi, G., et al. (2025)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Multimodal Machine Learning for Deception Detection Using Behavioral and Neurophysiological Modalities.</a:t>
            </a:r>
            <a:endParaRPr lang="en-US" altLang="en-US" sz="1800"/>
          </a:p>
          <a:p>
            <a:pPr marL="0" indent="0">
              <a:buNone/>
            </a:pPr>
            <a:r>
              <a:rPr lang="zh-CN" altLang="en-US" sz="1800">
                <a:sym typeface="+mn-ea"/>
              </a:rPr>
              <a:t>🔗</a:t>
            </a:r>
            <a:r>
              <a:rPr lang="en-IN" altLang="zh-CN" sz="1800">
                <a:sym typeface="+mn-ea"/>
              </a:rPr>
              <a:t> </a:t>
            </a:r>
            <a:r>
              <a:rPr lang="en-US" altLang="en-US" sz="1800"/>
              <a:t>Scientific Reports (Nature)</a:t>
            </a:r>
            <a:endParaRPr lang="en-US" altLang="en-US" sz="1800"/>
          </a:p>
          <a:p>
            <a:pPr marL="0" indent="0">
              <a:buNone/>
            </a:pPr>
            <a:r>
              <a:rPr lang="en-IN" altLang="en-US" sz="1800"/>
              <a:t>2. </a:t>
            </a:r>
            <a:r>
              <a:rPr lang="en-US" altLang="en-US" sz="1800"/>
              <a:t>Zhang, X., et al. (2025)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Leveraging Vision Transformers and Entropy-Based Modules for Micro-Expression Recognition.</a:t>
            </a:r>
            <a:endParaRPr lang="en-US" altLang="en-US" sz="1800"/>
          </a:p>
          <a:p>
            <a:pPr marL="0" indent="0">
              <a:buNone/>
            </a:pPr>
            <a:r>
              <a:rPr lang="zh-CN" altLang="en-US" sz="1800">
                <a:sym typeface="+mn-ea"/>
              </a:rPr>
              <a:t>🔗</a:t>
            </a:r>
            <a:r>
              <a:rPr lang="en-US" altLang="en-US" sz="1800">
                <a:sym typeface="+mn-ea"/>
              </a:rPr>
              <a:t> </a:t>
            </a:r>
            <a:r>
              <a:rPr lang="en-US" altLang="en-US" sz="1800"/>
              <a:t>Scientific Reports (Nature)</a:t>
            </a:r>
            <a:endParaRPr lang="en-US" altLang="en-US" sz="1800"/>
          </a:p>
          <a:p>
            <a:pPr marL="0" indent="0">
              <a:buNone/>
            </a:pPr>
            <a:r>
              <a:rPr lang="en-IN" altLang="en-US" sz="1800">
                <a:hlinkClick r:id="rId1" tooltip="" action="ppaction://hlinkfile"/>
              </a:rPr>
              <a:t>https://www.nature.com/scientificreports</a:t>
            </a:r>
            <a:endParaRPr lang="en-IN" altLang="en-US" sz="1800">
              <a:hlinkClick r:id="rId1" tooltip="" action="ppaction://hlinkfile"/>
            </a:endParaRPr>
          </a:p>
          <a:p>
            <a:pPr marL="0" indent="0">
              <a:buNone/>
            </a:pPr>
            <a:r>
              <a:rPr lang="en-IN" altLang="en-US" sz="1800"/>
              <a:t>3. </a:t>
            </a:r>
            <a:r>
              <a:rPr lang="en-US" altLang="en-US" sz="1800"/>
              <a:t>Li, Y., et al. (2024)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Micro-Expression Recognition Based on a Novel GCN and Transformer Collaborative Model.</a:t>
            </a:r>
            <a:endParaRPr lang="en-US" altLang="en-US" sz="1800"/>
          </a:p>
          <a:p>
            <a:pPr marL="0" indent="0">
              <a:buNone/>
            </a:pPr>
            <a:r>
              <a:rPr lang="zh-CN" altLang="en-US" sz="1800">
                <a:sym typeface="+mn-ea"/>
              </a:rPr>
              <a:t>🔗</a:t>
            </a:r>
            <a:r>
              <a:rPr lang="en-US" altLang="en-US" sz="1800">
                <a:sym typeface="+mn-ea"/>
              </a:rPr>
              <a:t> </a:t>
            </a:r>
            <a:r>
              <a:rPr lang="en-IN" altLang="en-US" sz="1800">
                <a:sym typeface="+mn-ea"/>
              </a:rPr>
              <a:t> </a:t>
            </a:r>
            <a:r>
              <a:rPr lang="en-US" altLang="en-US" sz="1800"/>
              <a:t>IEEE Transactions on Affective Computing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6907BCE9-832B-4CF1-A300-CFAFFA53FA5E}" type="datetime2">
              <a:rPr lang="en-US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r>
              <a:rPr lang="en-US" dirty="0"/>
              <a:t>© BVRIT CSE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2D96E056-3901-41CB-802B-E67DADB7F3B2}" type="slidenum">
              <a:rPr lang="en-US" altLang="en-US"/>
            </a:fld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Footer Placeholder 4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dirty="0"/>
              <a:t>© BVRIT CSE</a:t>
            </a:r>
            <a:r>
              <a:rPr lang="en-US" dirty="0"/>
              <a:t>(AI&amp;ML)</a:t>
            </a:r>
            <a:endParaRPr lang="en-US" altLang="en-US" dirty="0"/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D0875F05-5E2C-49B8-9428-2F9C627CBDFB}" type="slidenum">
              <a:rPr lang="en-US" altLang="en-US"/>
            </a:fld>
            <a:endParaRPr lang="en-US" alt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654877" y="2077008"/>
            <a:ext cx="6083877" cy="2271588"/>
          </a:xfrm>
        </p:spPr>
        <p:txBody>
          <a:bodyPr/>
          <a:lstStyle/>
          <a:p>
            <a:pPr algn="ctr"/>
            <a:r>
              <a:rPr lang="en-US" sz="5000" dirty="0"/>
              <a:t>Thank You </a:t>
            </a:r>
            <a:endParaRPr lang="en-US" sz="5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hinni's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7278</Words>
  <Application>WPS Presentation</Application>
  <PresentationFormat>Widescreen</PresentationFormat>
  <Paragraphs>260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Bookman Old Style</vt:lpstr>
      <vt:lpstr>Calibri</vt:lpstr>
      <vt:lpstr>Cambria</vt:lpstr>
      <vt:lpstr>Söhne</vt:lpstr>
      <vt:lpstr>Microsoft YaHei</vt:lpstr>
      <vt:lpstr>Arial Unicode MS</vt:lpstr>
      <vt:lpstr>Segoe Print</vt:lpstr>
      <vt:lpstr>Office Theme</vt:lpstr>
      <vt:lpstr>B V RAJU INSTITUTE OF TECHNOLOGY (UGC Autonomous) Vishnupur, Narsapur, Medak District</vt:lpstr>
      <vt:lpstr>Outline</vt:lpstr>
      <vt:lpstr>ABSTRACT</vt:lpstr>
      <vt:lpstr>PROBLEM STATEMENT</vt:lpstr>
      <vt:lpstr>LITERATURE REVIEW</vt:lpstr>
      <vt:lpstr>LITERATURE REVIEW</vt:lpstr>
      <vt:lpstr> RESEARCH GAPS</vt:lpstr>
      <vt:lpstr>RESEARCH OBJECTIVES</vt:lpstr>
      <vt:lpstr>METHODOLOGY</vt:lpstr>
      <vt:lpstr>PROCESS FLOW CHART</vt:lpstr>
      <vt:lpstr>IMPLEMENTATION</vt:lpstr>
      <vt:lpstr>PowerPoint 演示文稿</vt:lpstr>
      <vt:lpstr>PowerPoint 演示文稿</vt:lpstr>
      <vt:lpstr>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Dhanasai Bontu</dc:creator>
  <cp:lastModifiedBy>Kavya Spoorthi</cp:lastModifiedBy>
  <cp:revision>439</cp:revision>
  <dcterms:created xsi:type="dcterms:W3CDTF">2022-01-24T13:25:00Z</dcterms:created>
  <dcterms:modified xsi:type="dcterms:W3CDTF">2025-12-18T06:18:00Z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6F3B84ED394B45C080D38F97E94465AB_13</vt:lpwstr>
  </property>
  <property fmtid="{D5CDD505-2E9C-101B-9397-08002B2CF9AE}" pid="3" name="KSOProductBuildVer">
    <vt:lpwstr>1033-12.2.0.23155</vt:lpwstr>
  </property>
</Properties>
</file>